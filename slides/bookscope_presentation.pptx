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412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BookScope API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88720"/>
            <a:ext cx="1325880" cy="109728"/>
          </a:xfrm>
          <a:prstGeom prst="rect">
            <a:avLst/>
          </a:prstGeom>
          <a:solidFill>
            <a:srgbClr val="F961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881360" y="38404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1000" b="0">
                <a:solidFill>
                  <a:srgbClr val="FFFFFF"/>
                </a:solidFill>
              </a:defRPr>
            </a:pPr>
            <a: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737360"/>
            <a:ext cx="68580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400" b="0">
                <a:solidFill>
                  <a:srgbClr val="FFFFFF"/>
                </a:solidFill>
              </a:defRPr>
            </a:pPr>
            <a:r>
              <a:t>Google Books ingestion, local catalog ownership, personal bookshelf workflows, explainable recommendations, and reading analytics.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55279" y="1691640"/>
            <a:ext cx="3383280" cy="1143000"/>
          </a:xfrm>
          <a:prstGeom prst="roundRect">
            <a:avLst/>
          </a:prstGeom>
          <a:solidFill>
            <a:srgbClr val="344380"/>
          </a:solidFill>
          <a:ln>
            <a:solidFill>
              <a:srgbClr val="3443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 bIns="109728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Stack</a:t>
            </a:r>
          </a:p>
          <a:p>
            <a:pPr>
              <a:defRPr sz="1200">
                <a:solidFill>
                  <a:srgbClr val="FFFFFF"/>
                </a:solidFill>
              </a:defRPr>
            </a:pPr>
            <a:r>
              <a:t>Django REST Framework</a:t>
            </a:r>
            <a:br/>
            <a:r>
              <a:t>SQLite</a:t>
            </a:r>
            <a:br/>
            <a:r>
              <a:t>Simple JWT</a:t>
            </a:r>
            <a:br/>
            <a:r>
              <a:t>OpenAPI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897880"/>
            <a:ext cx="7132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</a:defRPr>
            </a:pPr>
            <a:r>
              <a:t>Repository: github.com/IJF9GAWHY8FGA8/bookscope-api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412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800" b="1">
                <a:solidFill>
                  <a:srgbClr val="272C34"/>
                </a:solidFill>
              </a:defRPr>
            </a:pPr>
            <a:r>
              <a:t>Problem and Scope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88720"/>
            <a:ext cx="1325880" cy="109728"/>
          </a:xfrm>
          <a:prstGeom prst="rect">
            <a:avLst/>
          </a:prstGeom>
          <a:solidFill>
            <a:srgbClr val="F961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881360" y="38404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1000" b="0">
                <a:solidFill>
                  <a:srgbClr val="272C34"/>
                </a:solidFill>
              </a:defRPr>
            </a:pPr>
            <a:r>
              <a:t>02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38328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 bIns="109728"/>
          <a:lstStyle/>
          <a:p>
            <a:pPr algn="ctr">
              <a:defRPr sz="1600" b="1">
                <a:solidFill>
                  <a:srgbClr val="1E2761"/>
                </a:solidFill>
              </a:defRPr>
            </a:pPr>
            <a:r>
              <a:t>Why not a proxy?</a:t>
            </a:r>
          </a:p>
          <a:p>
            <a:pPr>
              <a:defRPr sz="1200">
                <a:solidFill>
                  <a:srgbClr val="272C34"/>
                </a:solidFill>
              </a:defRPr>
            </a:pPr>
            <a:r>
              <a:t>Public book APIs expose metadata, but not personal reading state, private bookshelf logic, or coursework-specific analytics.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645920"/>
            <a:ext cx="338328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 bIns="109728"/>
          <a:lstStyle/>
          <a:p>
            <a:pPr algn="ctr">
              <a:defRPr sz="1600" b="1">
                <a:solidFill>
                  <a:srgbClr val="1E2761"/>
                </a:solidFill>
              </a:defRPr>
            </a:pPr>
            <a:r>
              <a:t>Coursework fit</a:t>
            </a:r>
          </a:p>
          <a:p>
            <a:pPr>
              <a:defRPr sz="1200">
                <a:solidFill>
                  <a:srgbClr val="272C34"/>
                </a:solidFill>
              </a:defRPr>
            </a:pPr>
            <a:r>
              <a:t>The project demonstrates CRUD, authentication, data ingestion, testing, API documentation, and version-controlled delivery.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38328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 bIns="109728"/>
          <a:lstStyle/>
          <a:p>
            <a:pPr algn="ctr">
              <a:defRPr sz="1600" b="1">
                <a:solidFill>
                  <a:srgbClr val="1E2761"/>
                </a:solidFill>
              </a:defRPr>
            </a:pPr>
            <a:r>
              <a:t>Chosen scope</a:t>
            </a:r>
          </a:p>
          <a:p>
            <a:pPr>
              <a:defRPr sz="1200">
                <a:solidFill>
                  <a:srgbClr val="272C34"/>
                </a:solidFill>
              </a:defRPr>
            </a:pPr>
            <a:r>
              <a:t>Book, author, genre, bookshelf, review, recommendation, and analytics endpoints on top of local SQLite data.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977639"/>
            <a:ext cx="10241280" cy="3566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>
                <a:solidFill>
                  <a:srgbClr val="272C34"/>
                </a:solidFill>
              </a:defRPr>
            </a:pPr>
            <a:r>
              <a:t>Public catalog browsing</a:t>
            </a:r>
          </a:p>
          <a:p>
            <a:pPr>
              <a:defRPr sz="1800">
                <a:solidFill>
                  <a:srgbClr val="272C34"/>
                </a:solidFill>
              </a:defRPr>
            </a:pPr>
            <a:r>
              <a:t>Authenticated bookshelf and review actions</a:t>
            </a:r>
          </a:p>
          <a:p>
            <a:pPr>
              <a:defRPr sz="1800">
                <a:solidFill>
                  <a:srgbClr val="272C34"/>
                </a:solidFill>
              </a:defRPr>
            </a:pPr>
            <a:r>
              <a:t>Explainable recommendation results</a:t>
            </a:r>
          </a:p>
          <a:p>
            <a:pPr>
              <a:defRPr sz="1800">
                <a:solidFill>
                  <a:srgbClr val="272C34"/>
                </a:solidFill>
              </a:defRPr>
            </a:pPr>
            <a:r>
              <a:t>Analytics for genres, ratings, and reading summary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412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800" b="1">
                <a:solidFill>
                  <a:srgbClr val="272C34"/>
                </a:solidFill>
              </a:defRPr>
            </a:pPr>
            <a:r>
              <a:t>Architecture Overview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88720"/>
            <a:ext cx="1325880" cy="109728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881360" y="38404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1000" b="0">
                <a:solidFill>
                  <a:srgbClr val="272C34"/>
                </a:solidFill>
              </a:defRPr>
            </a:pPr>
            <a:r>
              <a:t>03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828800"/>
            <a:ext cx="2148840" cy="169164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 bIns="109728"/>
          <a:lstStyle/>
          <a:p>
            <a:pPr algn="ctr">
              <a:defRPr sz="1600" b="1">
                <a:solidFill>
                  <a:srgbClr val="1E2761"/>
                </a:solidFill>
              </a:defRPr>
            </a:pPr>
            <a:r>
              <a:t>accounts</a:t>
            </a:r>
          </a:p>
          <a:p>
            <a:pPr>
              <a:defRPr sz="1200">
                <a:solidFill>
                  <a:srgbClr val="272C34"/>
                </a:solidFill>
              </a:defRPr>
            </a:pPr>
            <a:r>
              <a:t>Register, login, JWT, current user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66160" y="1828800"/>
            <a:ext cx="2148840" cy="169164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 bIns="109728"/>
          <a:lstStyle/>
          <a:p>
            <a:pPr algn="ctr">
              <a:defRPr sz="1600" b="1">
                <a:solidFill>
                  <a:srgbClr val="1E2761"/>
                </a:solidFill>
              </a:defRPr>
            </a:pPr>
            <a:r>
              <a:t>catalog</a:t>
            </a:r>
          </a:p>
          <a:p>
            <a:pPr>
              <a:defRPr sz="1200">
                <a:solidFill>
                  <a:srgbClr val="272C34"/>
                </a:solidFill>
              </a:defRPr>
            </a:pPr>
            <a:r>
              <a:t>Books, authors, genres, filters, import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828800"/>
            <a:ext cx="2148840" cy="169164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 bIns="109728"/>
          <a:lstStyle/>
          <a:p>
            <a:pPr algn="ctr">
              <a:defRPr sz="1600" b="1">
                <a:solidFill>
                  <a:srgbClr val="1E2761"/>
                </a:solidFill>
              </a:defRPr>
            </a:pPr>
            <a:r>
              <a:t>engagement</a:t>
            </a:r>
          </a:p>
          <a:p>
            <a:pPr>
              <a:defRPr sz="1200">
                <a:solidFill>
                  <a:srgbClr val="272C34"/>
                </a:solidFill>
              </a:defRPr>
            </a:pPr>
            <a:r>
              <a:t>Bookshelf entries and reviews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052560" y="1828800"/>
            <a:ext cx="2148840" cy="169164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 bIns="109728"/>
          <a:lstStyle/>
          <a:p>
            <a:pPr algn="ctr">
              <a:defRPr sz="1600" b="1">
                <a:solidFill>
                  <a:srgbClr val="1E2761"/>
                </a:solidFill>
              </a:defRPr>
            </a:pPr>
            <a:r>
              <a:t>analytics</a:t>
            </a:r>
          </a:p>
          <a:p>
            <a:pPr>
              <a:defRPr sz="1200">
                <a:solidFill>
                  <a:srgbClr val="272C34"/>
                </a:solidFill>
              </a:defRPr>
            </a:pPr>
            <a:r>
              <a:t>Recommendations and aggregate endpoints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3977639"/>
            <a:ext cx="102412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800" b="0">
                <a:solidFill>
                  <a:srgbClr val="272C34"/>
                </a:solidFill>
              </a:defRPr>
            </a:pPr>
            <a:r>
              <a:t>Django REST Framework handles routing, serializers, permissions, pagination, filtering, and schema generation. Services isolate recommendation, analytics, and ingestion logic from HTTP views.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412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800" b="1">
                <a:solidFill>
                  <a:srgbClr val="272C34"/>
                </a:solidFill>
              </a:defRPr>
            </a:pPr>
            <a:r>
              <a:t>Data Model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88720"/>
            <a:ext cx="1325880" cy="109728"/>
          </a:xfrm>
          <a:prstGeom prst="rect">
            <a:avLst/>
          </a:prstGeom>
          <a:solidFill>
            <a:srgbClr val="F961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881360" y="38404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1000" b="0">
                <a:solidFill>
                  <a:srgbClr val="272C34"/>
                </a:solidFill>
              </a:defRPr>
            </a:pPr>
            <a:r>
              <a:t>04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828800"/>
            <a:ext cx="1645920" cy="1097280"/>
          </a:xfrm>
          <a:prstGeom prst="roundRect">
            <a:avLst/>
          </a:prstGeom>
          <a:solidFill>
            <a:srgbClr val="E7E8D1"/>
          </a:solidFill>
          <a:ln>
            <a:solidFill>
              <a:srgbClr val="E7E8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 bIns="109728"/>
          <a:lstStyle/>
          <a:p>
            <a:pPr algn="ctr">
              <a:defRPr sz="1600" b="1">
                <a:solidFill>
                  <a:srgbClr val="1E2761"/>
                </a:solidFill>
              </a:defRPr>
            </a:pPr>
            <a:r>
              <a:t>Author</a:t>
            </a:r>
          </a:p>
          <a:p>
            <a:pPr>
              <a:defRPr sz="1200">
                <a:solidFill>
                  <a:srgbClr val="272C34"/>
                </a:solidFill>
              </a:defRPr>
            </a:pPr>
            <a:r>
              <a:t>Core entity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017520" y="1828800"/>
            <a:ext cx="1645920" cy="1097280"/>
          </a:xfrm>
          <a:prstGeom prst="roundRect">
            <a:avLst/>
          </a:prstGeom>
          <a:solidFill>
            <a:srgbClr val="E7E8D1"/>
          </a:solidFill>
          <a:ln>
            <a:solidFill>
              <a:srgbClr val="E7E8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 bIns="109728"/>
          <a:lstStyle/>
          <a:p>
            <a:pPr algn="ctr">
              <a:defRPr sz="1600" b="1">
                <a:solidFill>
                  <a:srgbClr val="1E2761"/>
                </a:solidFill>
              </a:defRPr>
            </a:pPr>
            <a:r>
              <a:t>Genre</a:t>
            </a:r>
          </a:p>
          <a:p>
            <a:pPr>
              <a:defRPr sz="1200">
                <a:solidFill>
                  <a:srgbClr val="272C34"/>
                </a:solidFill>
              </a:defRPr>
            </a:pPr>
            <a:r>
              <a:t>Core entity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212080" y="1828800"/>
            <a:ext cx="1645920" cy="1097280"/>
          </a:xfrm>
          <a:prstGeom prst="roundRect">
            <a:avLst/>
          </a:prstGeom>
          <a:solidFill>
            <a:srgbClr val="E7E8D1"/>
          </a:solidFill>
          <a:ln>
            <a:solidFill>
              <a:srgbClr val="E7E8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 bIns="109728"/>
          <a:lstStyle/>
          <a:p>
            <a:pPr algn="ctr">
              <a:defRPr sz="1600" b="1">
                <a:solidFill>
                  <a:srgbClr val="1E2761"/>
                </a:solidFill>
              </a:defRPr>
            </a:pPr>
            <a:r>
              <a:t>Book</a:t>
            </a:r>
          </a:p>
          <a:p>
            <a:pPr>
              <a:defRPr sz="1200">
                <a:solidFill>
                  <a:srgbClr val="272C34"/>
                </a:solidFill>
              </a:defRPr>
            </a:pPr>
            <a:r>
              <a:t>Core entity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06640" y="1828800"/>
            <a:ext cx="1645920" cy="1097280"/>
          </a:xfrm>
          <a:prstGeom prst="roundRect">
            <a:avLst/>
          </a:prstGeom>
          <a:solidFill>
            <a:srgbClr val="E7E8D1"/>
          </a:solidFill>
          <a:ln>
            <a:solidFill>
              <a:srgbClr val="E7E8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 bIns="109728"/>
          <a:lstStyle/>
          <a:p>
            <a:pPr algn="ctr">
              <a:defRPr sz="1600" b="1">
                <a:solidFill>
                  <a:srgbClr val="1E2761"/>
                </a:solidFill>
              </a:defRPr>
            </a:pPr>
            <a:r>
              <a:t>BookshelfEntry</a:t>
            </a:r>
          </a:p>
          <a:p>
            <a:pPr>
              <a:defRPr sz="1200">
                <a:solidFill>
                  <a:srgbClr val="272C34"/>
                </a:solidFill>
              </a:defRPr>
            </a:pPr>
            <a:r>
              <a:t>Core entity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601200" y="1828800"/>
            <a:ext cx="1645920" cy="1097280"/>
          </a:xfrm>
          <a:prstGeom prst="roundRect">
            <a:avLst/>
          </a:prstGeom>
          <a:solidFill>
            <a:srgbClr val="E7E8D1"/>
          </a:solidFill>
          <a:ln>
            <a:solidFill>
              <a:srgbClr val="E7E8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 bIns="109728"/>
          <a:lstStyle/>
          <a:p>
            <a:pPr algn="ctr">
              <a:defRPr sz="1600" b="1">
                <a:solidFill>
                  <a:srgbClr val="1E2761"/>
                </a:solidFill>
              </a:defRPr>
            </a:pPr>
            <a:r>
              <a:t>Review</a:t>
            </a:r>
          </a:p>
          <a:p>
            <a:pPr>
              <a:defRPr sz="1200">
                <a:solidFill>
                  <a:srgbClr val="272C34"/>
                </a:solidFill>
              </a:defRPr>
            </a:pPr>
            <a:r>
              <a:t>Core entity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657600"/>
            <a:ext cx="103327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800" b="0">
                <a:solidFill>
                  <a:srgbClr val="272C34"/>
                </a:solidFill>
              </a:defRPr>
            </a:pPr>
            <a:r>
              <a:t>Many-to-many: Book to Author and Book to Genre. User-linked uniqueness rules: one bookshelf entry per user per book, and one review per user per book.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572000"/>
            <a:ext cx="10058400" cy="3566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600">
                <a:solidFill>
                  <a:srgbClr val="272C34"/>
                </a:solidFill>
              </a:defRPr>
            </a:pPr>
            <a:r>
              <a:t>Google metadata lands in catalog tables</a:t>
            </a:r>
          </a:p>
          <a:p>
            <a:pPr>
              <a:defRPr sz="1600">
                <a:solidFill>
                  <a:srgbClr val="272C34"/>
                </a:solidFill>
              </a:defRPr>
            </a:pPr>
            <a:r>
              <a:t>User behavior lands in bookshelf and review tables</a:t>
            </a:r>
          </a:p>
          <a:p>
            <a:pPr>
              <a:defRPr sz="1600">
                <a:solidFill>
                  <a:srgbClr val="272C34"/>
                </a:solidFill>
              </a:defRPr>
            </a:pPr>
            <a:r>
              <a:t>Analytics derive from both imported metadata and local activity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412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800" b="1">
                <a:solidFill>
                  <a:srgbClr val="272C34"/>
                </a:solidFill>
              </a:defRPr>
            </a:pPr>
            <a:r>
              <a:t>Google Books Ingestion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88720"/>
            <a:ext cx="1325880" cy="109728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881360" y="38404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1000" b="0">
                <a:solidFill>
                  <a:srgbClr val="272C34"/>
                </a:solidFill>
              </a:defRPr>
            </a:pPr>
            <a:r>
              <a:t>05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1920240"/>
            <a:ext cx="2331720" cy="169164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 bIns="109728"/>
          <a:lstStyle/>
          <a:p>
            <a:pPr algn="ctr">
              <a:defRPr sz="1600" b="1">
                <a:solidFill>
                  <a:srgbClr val="1E2761"/>
                </a:solidFill>
              </a:defRPr>
            </a:pPr>
            <a:r>
              <a:t>1. Fetch</a:t>
            </a:r>
          </a:p>
          <a:p>
            <a:pPr>
              <a:defRPr sz="1200">
                <a:solidFill>
                  <a:srgbClr val="272C34"/>
                </a:solidFill>
              </a:defRPr>
            </a:pPr>
            <a:r>
              <a:t>Read Google Books payloads or local sample files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11880" y="1920240"/>
            <a:ext cx="2331720" cy="169164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 bIns="109728"/>
          <a:lstStyle/>
          <a:p>
            <a:pPr algn="ctr">
              <a:defRPr sz="1600" b="1">
                <a:solidFill>
                  <a:srgbClr val="1E2761"/>
                </a:solidFill>
              </a:defRPr>
            </a:pPr>
            <a:r>
              <a:t>2. Normalize</a:t>
            </a:r>
          </a:p>
          <a:p>
            <a:pPr>
              <a:defRPr sz="1200">
                <a:solidFill>
                  <a:srgbClr val="272C34"/>
                </a:solidFill>
              </a:defRPr>
            </a:pPr>
            <a:r>
              <a:t>Extract titles, authors, categories, ISBNs, dates, and links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55080" y="1920240"/>
            <a:ext cx="2331720" cy="169164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 bIns="109728"/>
          <a:lstStyle/>
          <a:p>
            <a:pPr algn="ctr">
              <a:defRPr sz="1600" b="1">
                <a:solidFill>
                  <a:srgbClr val="1E2761"/>
                </a:solidFill>
              </a:defRPr>
            </a:pPr>
            <a:r>
              <a:t>3. Persist</a:t>
            </a:r>
          </a:p>
          <a:p>
            <a:pPr>
              <a:defRPr sz="1200">
                <a:solidFill>
                  <a:srgbClr val="272C34"/>
                </a:solidFill>
              </a:defRPr>
            </a:pPr>
            <a:r>
              <a:t>Create or update local authors, genres, and books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098280" y="1920240"/>
            <a:ext cx="2331720" cy="169164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 bIns="109728"/>
          <a:lstStyle/>
          <a:p>
            <a:pPr algn="ctr">
              <a:defRPr sz="1600" b="1">
                <a:solidFill>
                  <a:srgbClr val="1E2761"/>
                </a:solidFill>
              </a:defRPr>
            </a:pPr>
            <a:r>
              <a:t>4. Build on local data</a:t>
            </a:r>
          </a:p>
          <a:p>
            <a:pPr>
              <a:defRPr sz="1200">
                <a:solidFill>
                  <a:srgbClr val="272C34"/>
                </a:solidFill>
              </a:defRPr>
            </a:pPr>
            <a:r>
              <a:t>Run CRUD, recommendation, and analytics from SQLite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4206240"/>
            <a:ext cx="102412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800" b="0">
                <a:solidFill>
                  <a:srgbClr val="272C34"/>
                </a:solidFill>
              </a:defRPr>
            </a:pPr>
            <a:r>
              <a:t>This keeps the runtime API database-driven and reproducible instead of depending on live external responses during marking.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412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800" b="1">
                <a:solidFill>
                  <a:srgbClr val="272C34"/>
                </a:solidFill>
              </a:defRPr>
            </a:pPr>
            <a:r>
              <a:t>API Documentation and Endpoints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88720"/>
            <a:ext cx="1325880" cy="109728"/>
          </a:xfrm>
          <a:prstGeom prst="rect">
            <a:avLst/>
          </a:prstGeom>
          <a:solidFill>
            <a:srgbClr val="F961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881360" y="38404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1000" b="0">
                <a:solidFill>
                  <a:srgbClr val="272C34"/>
                </a:solidFill>
              </a:defRPr>
            </a:pPr>
            <a: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783080"/>
            <a:ext cx="5394960" cy="3566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700">
                <a:solidFill>
                  <a:srgbClr val="272C34"/>
                </a:solidFill>
              </a:defRPr>
            </a:pPr>
            <a:r>
              <a:t>Health, schema, and Swagger UI endpoints</a:t>
            </a:r>
          </a:p>
          <a:p>
            <a:pPr>
              <a:defRPr sz="1700">
                <a:solidFill>
                  <a:srgbClr val="272C34"/>
                </a:solidFill>
              </a:defRPr>
            </a:pPr>
            <a:r>
              <a:t>Authentication endpoints for register, token, refresh, and current user</a:t>
            </a:r>
          </a:p>
          <a:p>
            <a:pPr>
              <a:defRPr sz="1700">
                <a:solidFill>
                  <a:srgbClr val="272C34"/>
                </a:solidFill>
              </a:defRPr>
            </a:pPr>
            <a:r>
              <a:t>Catalog CRUD for books, authors, and genres</a:t>
            </a:r>
          </a:p>
          <a:p>
            <a:pPr>
              <a:defRPr sz="1700">
                <a:solidFill>
                  <a:srgbClr val="272C34"/>
                </a:solidFill>
              </a:defRPr>
            </a:pPr>
            <a:r>
              <a:t>Bookshelf and review workflows</a:t>
            </a:r>
          </a:p>
          <a:p>
            <a:pPr>
              <a:defRPr sz="1700">
                <a:solidFill>
                  <a:srgbClr val="272C34"/>
                </a:solidFill>
              </a:defRPr>
            </a:pPr>
            <a:r>
              <a:t>Recommendation and analytics endpoints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0" y="1783080"/>
            <a:ext cx="46177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 bIns="109728"/>
          <a:lstStyle/>
          <a:p>
            <a:pPr algn="ctr">
              <a:defRPr sz="1600" b="1">
                <a:solidFill>
                  <a:srgbClr val="1E2761"/>
                </a:solidFill>
              </a:defRPr>
            </a:pPr>
            <a:r>
              <a:t>Submission docs</a:t>
            </a:r>
          </a:p>
          <a:p>
            <a:pPr>
              <a:defRPr sz="1200">
                <a:solidFill>
                  <a:srgbClr val="272C34"/>
                </a:solidFill>
              </a:defRPr>
            </a:pPr>
            <a:r>
              <a:t>OpenAPI YAML</a:t>
            </a:r>
            <a:br/>
            <a:r>
              <a:t>API documentation PDF</a:t>
            </a:r>
            <a:br/>
            <a:r>
              <a:t>Technical report PDF</a:t>
            </a:r>
            <a:br/>
            <a:r>
              <a:t>Slides PPTX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0" y="3931920"/>
            <a:ext cx="4617720" cy="1371600"/>
          </a:xfrm>
          <a:prstGeom prst="roundRect">
            <a:avLst/>
          </a:prstGeom>
          <a:solidFill>
            <a:srgbClr val="E7E8D1"/>
          </a:solidFill>
          <a:ln>
            <a:solidFill>
              <a:srgbClr val="E7E8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 bIns="109728"/>
          <a:lstStyle/>
          <a:p>
            <a:pPr algn="ctr">
              <a:defRPr sz="1600" b="1">
                <a:solidFill>
                  <a:srgbClr val="1E2761"/>
                </a:solidFill>
              </a:defRPr>
            </a:pPr>
            <a:r>
              <a:t>Permissions</a:t>
            </a:r>
          </a:p>
          <a:p>
            <a:pPr>
              <a:defRPr sz="1200">
                <a:solidFill>
                  <a:srgbClr val="272C34"/>
                </a:solidFill>
              </a:defRPr>
            </a:pPr>
            <a:r>
              <a:t>Public read for catalog and selected analytics. Staff-only catalog writes. Authenticated user ownership for bookshelf and reviews.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412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800" b="1">
                <a:solidFill>
                  <a:srgbClr val="272C34"/>
                </a:solidFill>
              </a:defRPr>
            </a:pPr>
            <a:r>
              <a:t>Recommendation and Analytics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88720"/>
            <a:ext cx="1325880" cy="109728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881360" y="38404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1000" b="0">
                <a:solidFill>
                  <a:srgbClr val="272C34"/>
                </a:solidFill>
              </a:defRPr>
            </a:pPr>
            <a:r>
              <a:t>07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1783080"/>
            <a:ext cx="2377440" cy="150876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 bIns="109728"/>
          <a:lstStyle/>
          <a:p>
            <a:pPr algn="ctr">
              <a:defRPr sz="1600" b="1">
                <a:solidFill>
                  <a:srgbClr val="1E2761"/>
                </a:solidFill>
              </a:defRPr>
            </a:pPr>
            <a:r>
              <a:t>Signal 1</a:t>
            </a:r>
          </a:p>
          <a:p>
            <a:pPr>
              <a:defRPr sz="1200">
                <a:solidFill>
                  <a:srgbClr val="272C34"/>
                </a:solidFill>
              </a:defRPr>
            </a:pPr>
            <a:r>
              <a:t>Preferred genres from highly rated books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29000" y="1783080"/>
            <a:ext cx="2377440" cy="150876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 bIns="109728"/>
          <a:lstStyle/>
          <a:p>
            <a:pPr algn="ctr">
              <a:defRPr sz="1600" b="1">
                <a:solidFill>
                  <a:srgbClr val="1E2761"/>
                </a:solidFill>
              </a:defRPr>
            </a:pPr>
            <a:r>
              <a:t>Signal 2</a:t>
            </a:r>
          </a:p>
          <a:p>
            <a:pPr>
              <a:defRPr sz="1200">
                <a:solidFill>
                  <a:srgbClr val="272C34"/>
                </a:solidFill>
              </a:defRPr>
            </a:pPr>
            <a:r>
              <a:t>Preferred authors from highly rated books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89320" y="1783080"/>
            <a:ext cx="2377440" cy="150876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 bIns="109728"/>
          <a:lstStyle/>
          <a:p>
            <a:pPr algn="ctr">
              <a:defRPr sz="1600" b="1">
                <a:solidFill>
                  <a:srgbClr val="1E2761"/>
                </a:solidFill>
              </a:defRPr>
            </a:pPr>
            <a:r>
              <a:t>Signal 3</a:t>
            </a:r>
          </a:p>
          <a:p>
            <a:pPr>
              <a:defRPr sz="1200">
                <a:solidFill>
                  <a:srgbClr val="272C34"/>
                </a:solidFill>
              </a:defRPr>
            </a:pPr>
            <a:r>
              <a:t>External rating strength and count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49640" y="1783080"/>
            <a:ext cx="2377440" cy="150876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 bIns="109728"/>
          <a:lstStyle/>
          <a:p>
            <a:pPr algn="ctr">
              <a:defRPr sz="1600" b="1">
                <a:solidFill>
                  <a:srgbClr val="1E2761"/>
                </a:solidFill>
              </a:defRPr>
            </a:pPr>
            <a:r>
              <a:t>Signal 4</a:t>
            </a:r>
          </a:p>
          <a:p>
            <a:pPr>
              <a:defRPr sz="1200">
                <a:solidFill>
                  <a:srgbClr val="272C34"/>
                </a:solidFill>
              </a:defRPr>
            </a:pPr>
            <a:r>
              <a:t>Local popularity from bookshelf and review activity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794760"/>
            <a:ext cx="10149840" cy="3566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700">
                <a:solidFill>
                  <a:srgbClr val="272C34"/>
                </a:solidFill>
              </a:defRPr>
            </a:pPr>
            <a:r>
              <a:t>Recommendations exclude books already on the user's shelf or review history</a:t>
            </a:r>
          </a:p>
          <a:p>
            <a:pPr>
              <a:defRPr sz="1700">
                <a:solidFill>
                  <a:srgbClr val="272C34"/>
                </a:solidFill>
              </a:defRPr>
            </a:pPr>
            <a:r>
              <a:t>Analytics cover trending books, genre popularity, rating distribution, reading summary, and top authors</a:t>
            </a:r>
          </a:p>
          <a:p>
            <a:pPr>
              <a:defRPr sz="1700">
                <a:solidFill>
                  <a:srgbClr val="272C34"/>
                </a:solidFill>
              </a:defRPr>
            </a:pPr>
            <a:r>
              <a:t>The logic is intentionally explainable for easier testing and oral defence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412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800" b="1">
                <a:solidFill>
                  <a:srgbClr val="272C34"/>
                </a:solidFill>
              </a:defRPr>
            </a:pPr>
            <a:r>
              <a:t>Testing and Error Handling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88720"/>
            <a:ext cx="1325880" cy="109728"/>
          </a:xfrm>
          <a:prstGeom prst="rect">
            <a:avLst/>
          </a:prstGeom>
          <a:solidFill>
            <a:srgbClr val="F961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881360" y="38404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1000" b="0">
                <a:solidFill>
                  <a:srgbClr val="272C34"/>
                </a:solidFill>
              </a:defRPr>
            </a:pPr>
            <a:r>
              <a:t>08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1783080"/>
            <a:ext cx="475488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 bIns="109728"/>
          <a:lstStyle/>
          <a:p>
            <a:pPr algn="ctr">
              <a:defRPr sz="1600" b="1">
                <a:solidFill>
                  <a:srgbClr val="1E2761"/>
                </a:solidFill>
              </a:defRPr>
            </a:pPr>
            <a:r>
              <a:t>Automated checks</a:t>
            </a:r>
          </a:p>
          <a:p>
            <a:pPr>
              <a:defRPr sz="1200">
                <a:solidFill>
                  <a:srgbClr val="272C34"/>
                </a:solidFill>
              </a:defRPr>
            </a:pPr>
            <a:r>
              <a:t>Registration and auth</a:t>
            </a:r>
            <a:br/>
            <a:r>
              <a:t>Catalog list and create</a:t>
            </a:r>
            <a:br/>
            <a:r>
              <a:t>Bookshelf uniqueness</a:t>
            </a:r>
            <a:br/>
            <a:r>
              <a:t>Review uniqueness</a:t>
            </a:r>
            <a:br/>
            <a:r>
              <a:t>Recommendation exclusion</a:t>
            </a:r>
            <a:br/>
            <a:r>
              <a:t>Analytics responses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89320" y="1783080"/>
            <a:ext cx="4663440" cy="2011680"/>
          </a:xfrm>
          <a:prstGeom prst="roundRect">
            <a:avLst/>
          </a:prstGeom>
          <a:solidFill>
            <a:srgbClr val="E7E8D1"/>
          </a:solidFill>
          <a:ln>
            <a:solidFill>
              <a:srgbClr val="E7E8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 bIns="109728"/>
          <a:lstStyle/>
          <a:p>
            <a:pPr algn="ctr">
              <a:defRPr sz="1600" b="1">
                <a:solidFill>
                  <a:srgbClr val="1E2761"/>
                </a:solidFill>
              </a:defRPr>
            </a:pPr>
            <a:r>
              <a:t>Structured errors</a:t>
            </a:r>
          </a:p>
          <a:p>
            <a:pPr>
              <a:defRPr sz="1200">
                <a:solidFill>
                  <a:srgbClr val="272C34"/>
                </a:solidFill>
              </a:defRPr>
            </a:pPr>
            <a:r>
              <a:t>{"error": {"code": "validation_error", "message": "Validation failed.", "details": {"book_id": ["You already have a bookshelf entry for this book."]}}}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425196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800" b="0">
                <a:solidFill>
                  <a:srgbClr val="272C34"/>
                </a:solidFill>
              </a:defRPr>
            </a:pPr>
            <a:r>
              <a:t>The API enforces serializer validation, model constraints, permission checks, and consistent HTTP status handling.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412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800" b="1">
                <a:solidFill>
                  <a:srgbClr val="272C34"/>
                </a:solidFill>
              </a:defRPr>
            </a:pPr>
            <a:r>
              <a:t>Version Control Practice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88720"/>
            <a:ext cx="1325880" cy="109728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881360" y="38404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1000" b="0">
                <a:solidFill>
                  <a:srgbClr val="272C34"/>
                </a:solidFill>
              </a:defRPr>
            </a:pPr>
            <a:r>
              <a:t>09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1560" y="1691640"/>
            <a:ext cx="9326880" cy="530352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 bIns="109728"/>
          <a:lstStyle/>
          <a:p>
            <a:pPr algn="ctr">
              <a:defRPr sz="1600" b="1">
                <a:solidFill>
                  <a:srgbClr val="1E2761"/>
                </a:solidFill>
              </a:defRPr>
            </a:pPr>
            <a:r>
              <a:t>Commit 1</a:t>
            </a:r>
          </a:p>
          <a:p>
            <a:pPr>
              <a:defRPr sz="1200">
                <a:solidFill>
                  <a:srgbClr val="272C34"/>
                </a:solidFill>
              </a:defRPr>
            </a:pPr>
            <a:r>
              <a:t>Runtime setup and API modules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51560" y="2423160"/>
            <a:ext cx="9326880" cy="530352"/>
          </a:xfrm>
          <a:prstGeom prst="roundRect">
            <a:avLst/>
          </a:prstGeom>
          <a:solidFill>
            <a:srgbClr val="E7E8D1"/>
          </a:solidFill>
          <a:ln>
            <a:solidFill>
              <a:srgbClr val="E7E8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 bIns="109728"/>
          <a:lstStyle/>
          <a:p>
            <a:pPr algn="ctr">
              <a:defRPr sz="1600" b="1">
                <a:solidFill>
                  <a:srgbClr val="1E2761"/>
                </a:solidFill>
              </a:defRPr>
            </a:pPr>
            <a:r>
              <a:t>Commit 2</a:t>
            </a:r>
          </a:p>
          <a:p>
            <a:pPr>
              <a:defRPr sz="1200">
                <a:solidFill>
                  <a:srgbClr val="272C34"/>
                </a:solidFill>
              </a:defRPr>
            </a:pPr>
            <a:r>
              <a:t>Google Books sample and seed data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51560" y="3154680"/>
            <a:ext cx="9326880" cy="530352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 bIns="109728"/>
          <a:lstStyle/>
          <a:p>
            <a:pPr algn="ctr">
              <a:defRPr sz="1600" b="1">
                <a:solidFill>
                  <a:srgbClr val="1E2761"/>
                </a:solidFill>
              </a:defRPr>
            </a:pPr>
            <a:r>
              <a:t>Commit 3</a:t>
            </a:r>
          </a:p>
          <a:p>
            <a:pPr>
              <a:defRPr sz="1200">
                <a:solidFill>
                  <a:srgbClr val="272C34"/>
                </a:solidFill>
              </a:defRPr>
            </a:pPr>
            <a:r>
              <a:t>Automated tests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1560" y="3886200"/>
            <a:ext cx="9326880" cy="530352"/>
          </a:xfrm>
          <a:prstGeom prst="roundRect">
            <a:avLst/>
          </a:prstGeom>
          <a:solidFill>
            <a:srgbClr val="E7E8D1"/>
          </a:solidFill>
          <a:ln>
            <a:solidFill>
              <a:srgbClr val="E7E8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 bIns="109728"/>
          <a:lstStyle/>
          <a:p>
            <a:pPr algn="ctr">
              <a:defRPr sz="1600" b="1">
                <a:solidFill>
                  <a:srgbClr val="1E2761"/>
                </a:solidFill>
              </a:defRPr>
            </a:pPr>
            <a:r>
              <a:t>Commit 4</a:t>
            </a:r>
          </a:p>
          <a:p>
            <a:pPr>
              <a:defRPr sz="1200">
                <a:solidFill>
                  <a:srgbClr val="272C34"/>
                </a:solidFill>
              </a:defRPr>
            </a:pPr>
            <a:r>
              <a:t>Source documentation and asset builders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4617720"/>
            <a:ext cx="9326880" cy="530352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 bIns="109728"/>
          <a:lstStyle/>
          <a:p>
            <a:pPr algn="ctr">
              <a:defRPr sz="1600" b="1">
                <a:solidFill>
                  <a:srgbClr val="1E2761"/>
                </a:solidFill>
              </a:defRPr>
            </a:pPr>
            <a:r>
              <a:t>Commit 5</a:t>
            </a:r>
          </a:p>
          <a:p>
            <a:pPr>
              <a:defRPr sz="1200">
                <a:solidFill>
                  <a:srgbClr val="272C34"/>
                </a:solidFill>
              </a:defRPr>
            </a:pPr>
            <a:r>
              <a:t>Generated PDFs, schema, and presentation deck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5669280"/>
            <a:ext cx="95097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600" b="0">
                <a:solidFill>
                  <a:srgbClr val="272C34"/>
                </a:solidFill>
              </a:defRPr>
            </a:pPr>
            <a:r>
              <a:t>The public repository shows staged delivery instead of a single final dump.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412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800" b="1">
                <a:solidFill>
                  <a:srgbClr val="272C34"/>
                </a:solidFill>
              </a:defRPr>
            </a:pPr>
            <a:r>
              <a:t>Deliverables and PythonAnywhere Deployment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88720"/>
            <a:ext cx="1325880" cy="109728"/>
          </a:xfrm>
          <a:prstGeom prst="rect">
            <a:avLst/>
          </a:prstGeom>
          <a:solidFill>
            <a:srgbClr val="F961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881360" y="38404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1000" b="0">
                <a:solidFill>
                  <a:srgbClr val="272C34"/>
                </a:solidFill>
              </a:defRPr>
            </a:pPr>
            <a:r>
              <a:t>10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1737360"/>
            <a:ext cx="2468880" cy="155448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 bIns="109728"/>
          <a:lstStyle/>
          <a:p>
            <a:pPr algn="ctr">
              <a:defRPr sz="1600" b="1">
                <a:solidFill>
                  <a:srgbClr val="1E2761"/>
                </a:solidFill>
              </a:defRPr>
            </a:pPr>
            <a:r>
              <a:t>Deliverables</a:t>
            </a:r>
          </a:p>
          <a:p>
            <a:pPr>
              <a:defRPr sz="1200">
                <a:solidFill>
                  <a:srgbClr val="272C34"/>
                </a:solidFill>
              </a:defRPr>
            </a:pPr>
            <a:r>
              <a:t>Public repo</a:t>
            </a:r>
            <a:br/>
            <a:r>
              <a:t>README</a:t>
            </a:r>
            <a:br/>
            <a:r>
              <a:t>API docs PDF</a:t>
            </a:r>
            <a:br/>
            <a:r>
              <a:t>Technical report PDF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11880" y="1737360"/>
            <a:ext cx="2468880" cy="155448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 bIns="109728"/>
          <a:lstStyle/>
          <a:p>
            <a:pPr algn="ctr">
              <a:defRPr sz="1600" b="1">
                <a:solidFill>
                  <a:srgbClr val="1E2761"/>
                </a:solidFill>
              </a:defRPr>
            </a:pPr>
            <a:r>
              <a:t>More deliverables</a:t>
            </a:r>
          </a:p>
          <a:p>
            <a:pPr>
              <a:defRPr sz="1200">
                <a:solidFill>
                  <a:srgbClr val="272C34"/>
                </a:solidFill>
              </a:defRPr>
            </a:pPr>
            <a:r>
              <a:t>GenAI appendix</a:t>
            </a:r>
            <a:br/>
            <a:r>
              <a:t>Conversation logs appendix</a:t>
            </a:r>
            <a:br/>
            <a:r>
              <a:t>Slides PPTX</a:t>
            </a:r>
            <a:br/>
            <a:r>
              <a:t>Tests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55080" y="1737360"/>
            <a:ext cx="2468880" cy="155448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 bIns="109728"/>
          <a:lstStyle/>
          <a:p>
            <a:pPr algn="ctr">
              <a:defRPr sz="1600" b="1">
                <a:solidFill>
                  <a:srgbClr val="1E2761"/>
                </a:solidFill>
              </a:defRPr>
            </a:pPr>
            <a:r>
              <a:t>Deployment method</a:t>
            </a:r>
          </a:p>
          <a:p>
            <a:pPr>
              <a:defRPr sz="1200">
                <a:solidFill>
                  <a:srgbClr val="272C34"/>
                </a:solidFill>
              </a:defRPr>
            </a:pPr>
            <a:r>
              <a:t>Manual web app</a:t>
            </a:r>
            <a:br/>
            <a:r>
              <a:t>Virtualenv</a:t>
            </a:r>
            <a:br/>
            <a:r>
              <a:t>Platform WSGI file</a:t>
            </a:r>
            <a:br/>
            <a:r>
              <a:t>Static mappings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098280" y="1737360"/>
            <a:ext cx="2148840" cy="1554480"/>
          </a:xfrm>
          <a:prstGeom prst="roundRect">
            <a:avLst/>
          </a:prstGeom>
          <a:solidFill>
            <a:srgbClr val="E7E8D1"/>
          </a:solidFill>
          <a:ln>
            <a:solidFill>
              <a:srgbClr val="E7E8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 bIns="109728"/>
          <a:lstStyle/>
          <a:p>
            <a:pPr algn="ctr">
              <a:defRPr sz="1600" b="1">
                <a:solidFill>
                  <a:srgbClr val="1E2761"/>
                </a:solidFill>
              </a:defRPr>
            </a:pPr>
            <a:r>
              <a:t>Hosting note</a:t>
            </a:r>
          </a:p>
          <a:p>
            <a:pPr>
              <a:defRPr sz="1200">
                <a:solidFill>
                  <a:srgbClr val="272C34"/>
                </a:solidFill>
              </a:defRPr>
            </a:pPr>
            <a:r>
              <a:t>Final publication still needs a PythonAnywhere account and reload step.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977639"/>
            <a:ext cx="101498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700" b="0">
                <a:solidFill>
                  <a:srgbClr val="272C34"/>
                </a:solidFill>
              </a:defRPr>
            </a:pPr>
            <a:r>
              <a:t>Target URL: https://YOUR_PYTHONANYWHERE_USERNAME.pythonanywhere.com/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412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800" b="1">
                <a:solidFill>
                  <a:srgbClr val="272C34"/>
                </a:solidFill>
              </a:defRPr>
            </a:pPr>
            <a:r>
              <a:t>Technical Report Highlights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88720"/>
            <a:ext cx="1325880" cy="109728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881360" y="38404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1000" b="0">
                <a:solidFill>
                  <a:srgbClr val="272C34"/>
                </a:solidFill>
              </a:defRPr>
            </a:pPr>
            <a: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783080"/>
            <a:ext cx="5303520" cy="3566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700">
                <a:solidFill>
                  <a:srgbClr val="272C34"/>
                </a:solidFill>
              </a:defRPr>
            </a:pPr>
            <a:r>
              <a:t>Why Django, DRF, and SQLite were selected</a:t>
            </a:r>
          </a:p>
          <a:p>
            <a:pPr>
              <a:defRPr sz="1700">
                <a:solidFill>
                  <a:srgbClr val="272C34"/>
                </a:solidFill>
              </a:defRPr>
            </a:pPr>
            <a:r>
              <a:t>Why Google Books is treated as an external metadata source, not a runtime backend</a:t>
            </a:r>
          </a:p>
          <a:p>
            <a:pPr>
              <a:defRPr sz="1700">
                <a:solidFill>
                  <a:srgbClr val="272C34"/>
                </a:solidFill>
              </a:defRPr>
            </a:pPr>
            <a:r>
              <a:t>Why rule-based recommendation is easier to justify and test in this coursework</a:t>
            </a:r>
          </a:p>
          <a:p>
            <a:pPr>
              <a:defRPr sz="1700">
                <a:solidFill>
                  <a:srgbClr val="272C34"/>
                </a:solidFill>
              </a:defRPr>
            </a:pPr>
            <a:r>
              <a:t>Where the main limitations and future improvements sit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783080"/>
            <a:ext cx="475488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 bIns="109728"/>
          <a:lstStyle/>
          <a:p>
            <a:pPr algn="ctr">
              <a:defRPr sz="1600" b="1">
                <a:solidFill>
                  <a:srgbClr val="1E2761"/>
                </a:solidFill>
              </a:defRPr>
            </a:pPr>
            <a:r>
              <a:t>Submission links inside the report</a:t>
            </a:r>
          </a:p>
          <a:p>
            <a:pPr>
              <a:defRPr sz="1200">
                <a:solidFill>
                  <a:srgbClr val="272C34"/>
                </a:solidFill>
              </a:defRPr>
            </a:pPr>
            <a:r>
              <a:t>Repository link</a:t>
            </a:r>
            <a:br/>
            <a:r>
              <a:t>API docs link</a:t>
            </a:r>
            <a:br/>
            <a:r>
              <a:t>Slides link</a:t>
            </a:r>
            <a:br/>
            <a:r>
              <a:t>GenAI appendix link</a:t>
            </a:r>
            <a:br/>
            <a:r>
              <a:t>Conversation logs appendix link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429768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800" b="0">
                <a:solidFill>
                  <a:srgbClr val="272C34"/>
                </a:solidFill>
              </a:defRPr>
            </a:pPr>
            <a:r>
              <a:t>The report stays within the five-page body limit while still covering architecture, testing, tradeoffs, limitations, and references.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412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800" b="1">
                <a:solidFill>
                  <a:srgbClr val="272C34"/>
                </a:solidFill>
              </a:defRPr>
            </a:pPr>
            <a:r>
              <a:t>GenAI Usage and Oversight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88720"/>
            <a:ext cx="1325880" cy="109728"/>
          </a:xfrm>
          <a:prstGeom prst="rect">
            <a:avLst/>
          </a:prstGeom>
          <a:solidFill>
            <a:srgbClr val="F961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881360" y="38404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1000" b="0">
                <a:solidFill>
                  <a:srgbClr val="272C34"/>
                </a:solidFill>
              </a:defRPr>
            </a:pPr>
            <a:r>
              <a:t>12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1783080"/>
            <a:ext cx="475488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 bIns="109728"/>
          <a:lstStyle/>
          <a:p>
            <a:pPr algn="ctr">
              <a:defRPr sz="1600" b="1">
                <a:solidFill>
                  <a:srgbClr val="1E2761"/>
                </a:solidFill>
              </a:defRPr>
            </a:pPr>
            <a:r>
              <a:t>Where AI helped</a:t>
            </a:r>
          </a:p>
          <a:p>
            <a:pPr>
              <a:defRPr sz="1200">
                <a:solidFill>
                  <a:srgbClr val="272C34"/>
                </a:solidFill>
              </a:defRPr>
            </a:pPr>
            <a:r>
              <a:t>Requirement extraction</a:t>
            </a:r>
            <a:br/>
            <a:r>
              <a:t>Planning and decomposition</a:t>
            </a:r>
            <a:br/>
            <a:r>
              <a:t>API and documentation structuring</a:t>
            </a:r>
            <a:br/>
            <a:r>
              <a:t>Suggestion review for tests and materials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89320" y="1783080"/>
            <a:ext cx="4663440" cy="2011680"/>
          </a:xfrm>
          <a:prstGeom prst="roundRect">
            <a:avLst/>
          </a:prstGeom>
          <a:solidFill>
            <a:srgbClr val="E7E8D1"/>
          </a:solidFill>
          <a:ln>
            <a:solidFill>
              <a:srgbClr val="E7E8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 bIns="109728"/>
          <a:lstStyle/>
          <a:p>
            <a:pPr algn="ctr">
              <a:defRPr sz="1600" b="1">
                <a:solidFill>
                  <a:srgbClr val="1E2761"/>
                </a:solidFill>
              </a:defRPr>
            </a:pPr>
            <a:r>
              <a:t>Human control</a:t>
            </a:r>
          </a:p>
          <a:p>
            <a:pPr>
              <a:defRPr sz="1200">
                <a:solidFill>
                  <a:srgbClr val="272C34"/>
                </a:solidFill>
              </a:defRPr>
            </a:pPr>
            <a:r>
              <a:t>Scope was reduced manually</a:t>
            </a:r>
            <a:br/>
            <a:r>
              <a:t>Weak suggestions were rejected</a:t>
            </a:r>
            <a:br/>
            <a:r>
              <a:t>Tests and exports were verified locally</a:t>
            </a:r>
            <a:br/>
            <a:r>
              <a:t>Final tradeoffs were chosen deliberately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4343400"/>
            <a:ext cx="10149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800" b="0">
                <a:solidFill>
                  <a:srgbClr val="272C34"/>
                </a:solidFill>
              </a:defRPr>
            </a:pPr>
            <a:r>
              <a:t>The repository includes both a GenAI declaration appendix and a representative conversation logs appendix.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412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Demo Flow, Limitations, and Next Steps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88720"/>
            <a:ext cx="1325880" cy="109728"/>
          </a:xfrm>
          <a:prstGeom prst="rect">
            <a:avLst/>
          </a:prstGeom>
          <a:solidFill>
            <a:srgbClr val="F961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881360" y="38404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1000" b="0">
                <a:solidFill>
                  <a:srgbClr val="FFFFFF"/>
                </a:solidFill>
              </a:defRPr>
            </a:pPr>
            <a: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783080"/>
            <a:ext cx="10058400" cy="3566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Demo flow: register, import data, browse catalog, add bookshelf entry, create review, request recommendations, inspect analytics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t>Limitations: SQLite scale, heuristic ranking, and a final PythonAnywhere account-side publish step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t>Next steps: richer ranking, stronger deployment hardening, more advanced filtering and caching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